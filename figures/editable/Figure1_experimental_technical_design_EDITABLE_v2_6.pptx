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8e3d4eb0af4f62" /><Relationship Type="http://schemas.openxmlformats.org/officeDocument/2006/relationships/extended-properties" Target="/docProps/app.xml" Id="R767d90bfbe6e442a" /><Relationship Type="http://schemas.openxmlformats.org/officeDocument/2006/relationships/officeDocument" Target="/ppt/presentation.xml" Id="Rf71c4397ee2144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6d7ab451ba4faa"/>
  </p:sldMasterIdLst>
  <p:notesMasterIdLst>
    <p:notesMasterId xmlns:r="http://schemas.openxmlformats.org/officeDocument/2006/relationships" r:id="Rd93eb1a39db84bf9"/>
  </p:notesMasterIdLst>
  <p:sldIdLst>
    <p:sldId xmlns:r="http://schemas.openxmlformats.org/officeDocument/2006/relationships" id="256" r:id="Red95e86ada824877"/>
  </p:sldIdLst>
  <p:sldSz cx="11430000" cy="5905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9e84efdb884165" /><Relationship Type="http://schemas.openxmlformats.org/officeDocument/2006/relationships/slideMaster" Target="/ppt/slideMasters/slideMaster1.xml" Id="R6b6d7ab451ba4faa" /><Relationship Type="http://schemas.openxmlformats.org/officeDocument/2006/relationships/notesMaster" Target="/ppt/notesMasters/notesMaster1.xml" Id="Rd93eb1a39db84bf9" /><Relationship Type="http://schemas.openxmlformats.org/officeDocument/2006/relationships/presProps" Target="/ppt/presProps.xml" Id="R521f977b1608417d" /><Relationship Type="http://schemas.openxmlformats.org/officeDocument/2006/relationships/tableStyles" Target="/ppt/tableStyles.xml" Id="R0689f2fe75f94e40" /><Relationship Type="http://schemas.openxmlformats.org/officeDocument/2006/relationships/slide" Target="/ppt/slides/slide1.xml" Id="Red95e86ada8248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5daa89b901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85e23a4b934fe2" /><Relationship Type="http://schemas.openxmlformats.org/officeDocument/2006/relationships/notesMaster" Target="/ppt/notesMasters/notesMaster1.xml" Id="R4079288598f24e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Project-authored Figure 1 content and terminology from the TNBC-BIR CSBJ submission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0d390a3c046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089c20543f437c" /><Relationship Type="http://schemas.openxmlformats.org/officeDocument/2006/relationships/slideLayout" Target="/ppt/slideLayouts/slideLayout1.xml" Id="R67cf31e179474e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cf31e179474e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d70138b444364" /><Relationship Type="http://schemas.openxmlformats.org/officeDocument/2006/relationships/notesSlide" Target="/ppt/notesSlides/notesSlide1.xml" Id="Re42422deadfe49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meline">
            <a:extLst xmlns:a="http://schemas.openxmlformats.org/drawingml/2006/main">
              <a:ext uri="{FF2B5EF4-FFF2-40B4-BE49-F238E27FC236}">
                <a16:creationId xmlns:a16="http://schemas.microsoft.com/office/drawing/2014/main" id="{CC155993-28A6-41D8-957C-D86FA4F8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95375"/>
            <a:ext cx="995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7B0B6"/>
            </a:solidFill>
            <a:prstDash val="solid"/>
          </a:ln>
        </p:spPr>
      </p:sp>
      <p:sp>
        <p:nvSpPr>
          <p:cNvPr id="2" name="timeline-arrowhead">
            <a:extLst xmlns:a="http://schemas.openxmlformats.org/drawingml/2006/main">
              <a:ext uri="{FF2B5EF4-FFF2-40B4-BE49-F238E27FC236}">
                <a16:creationId xmlns:a16="http://schemas.microsoft.com/office/drawing/2014/main" id="{8E63A40F-7C4D-4155-BF08-18A40A80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744200" y="1038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7B0B6"/>
          </a:solidFill>
          <a:ln xmlns:a="http://schemas.openxmlformats.org/drawingml/2006/main" w="0">
            <a:solidFill>
              <a:srgbClr val="A7B0B6"/>
            </a:solidFill>
            <a:prstDash val="solid"/>
          </a:ln>
        </p:spPr>
      </p:sp>
      <p:sp>
        <p:nvSpPr>
          <p:cNvPr id="3" name="divider-1">
            <a:extLst xmlns:a="http://schemas.openxmlformats.org/drawingml/2006/main">
              <a:ext uri="{FF2B5EF4-FFF2-40B4-BE49-F238E27FC236}">
                <a16:creationId xmlns:a16="http://schemas.microsoft.com/office/drawing/2014/main" id="{3EB8FC2B-D3E9-43C2-B3B1-3B8DB2BA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3875"/>
            <a:ext cx="0" cy="461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7DCDF"/>
            </a:solidFill>
            <a:prstDash val="solid"/>
          </a:ln>
        </p:spPr>
      </p:sp>
      <p:sp>
        <p:nvSpPr>
          <p:cNvPr id="4" name="divider-2">
            <a:extLst xmlns:a="http://schemas.openxmlformats.org/drawingml/2006/main">
              <a:ext uri="{FF2B5EF4-FFF2-40B4-BE49-F238E27FC236}">
                <a16:creationId xmlns:a16="http://schemas.microsoft.com/office/drawing/2014/main" id="{0ABA4071-0A94-4FF1-93FF-66A827B3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"/>
            <a:ext cx="0" cy="461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7DCDF"/>
            </a:solidFill>
            <a:prstDash val="solid"/>
          </a:ln>
        </p:spPr>
      </p:sp>
      <p:sp>
        <p:nvSpPr>
          <p:cNvPr id="5" name="divider-3">
            <a:extLst xmlns:a="http://schemas.openxmlformats.org/drawingml/2006/main">
              <a:ext uri="{FF2B5EF4-FFF2-40B4-BE49-F238E27FC236}">
                <a16:creationId xmlns:a16="http://schemas.microsoft.com/office/drawing/2014/main" id="{C478A22F-0DD0-480C-935B-F852CD8A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0" cy="461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7DCDF"/>
            </a:solidFill>
            <a:prstDash val="solid"/>
          </a:ln>
        </p:spPr>
      </p:sp>
      <p:sp>
        <p:nvSpPr>
          <p:cNvPr id="6" name="scoring-rule">
            <a:extLst xmlns:a="http://schemas.openxmlformats.org/drawingml/2006/main">
              <a:ext uri="{FF2B5EF4-FFF2-40B4-BE49-F238E27FC236}">
                <a16:creationId xmlns:a16="http://schemas.microsoft.com/office/drawing/2014/main" id="{925EA742-8C52-4441-B8C9-7105A75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766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DD3D7"/>
            </a:solidFill>
            <a:prstDash val="solid"/>
          </a:ln>
        </p:spPr>
      </p:sp>
      <p:sp>
        <p:nvSpPr>
          <p:cNvPr id="7" name="stage-1">
            <a:extLst xmlns:a="http://schemas.openxmlformats.org/drawingml/2006/main">
              <a:ext uri="{FF2B5EF4-FFF2-40B4-BE49-F238E27FC236}">
                <a16:creationId xmlns:a16="http://schemas.microsoft.com/office/drawing/2014/main" id="{82F42346-51C3-4A9F-8B58-8AA3EA13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00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2">
            <a:extLst xmlns:a="http://schemas.openxmlformats.org/drawingml/2006/main">
              <a:ext uri="{FF2B5EF4-FFF2-40B4-BE49-F238E27FC236}">
                <a16:creationId xmlns:a16="http://schemas.microsoft.com/office/drawing/2014/main" id="{8836B91E-3764-461B-B292-869D9D62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000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8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stage-3">
            <a:extLst xmlns:a="http://schemas.openxmlformats.org/drawingml/2006/main">
              <a:ext uri="{FF2B5EF4-FFF2-40B4-BE49-F238E27FC236}">
                <a16:creationId xmlns:a16="http://schemas.microsoft.com/office/drawing/2014/main" id="{C0B3FC83-2085-46C5-ADAA-3D3DD25A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0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stage-4">
            <a:extLst xmlns:a="http://schemas.openxmlformats.org/drawingml/2006/main">
              <a:ext uri="{FF2B5EF4-FFF2-40B4-BE49-F238E27FC236}">
                <a16:creationId xmlns:a16="http://schemas.microsoft.com/office/drawing/2014/main" id="{30369893-77DF-4F5E-8B12-F7BF374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000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header-1">
            <a:extLst xmlns:a="http://schemas.openxmlformats.org/drawingml/2006/main">
              <a:ext uri="{FF2B5EF4-FFF2-40B4-BE49-F238E27FC236}">
                <a16:creationId xmlns:a16="http://schemas.microsoft.com/office/drawing/2014/main" id="{11AEC7E9-13AB-4D16-B61E-40B8E97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Literature-anchored modules</a:t>
            </a:r>
          </a:p>
        </p:txBody>
      </p:sp>
      <p:sp>
        <p:nvSpPr>
          <p:cNvPr id="12" name="header-2">
            <a:extLst xmlns:a="http://schemas.openxmlformats.org/drawingml/2006/main">
              <a:ext uri="{FF2B5EF4-FFF2-40B4-BE49-F238E27FC236}">
                <a16:creationId xmlns:a16="http://schemas.microsoft.com/office/drawing/2014/main" id="{95714390-B686-4518-A8BF-3EC5629F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38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Cohort-wise fixed scoring</a:t>
            </a:r>
          </a:p>
        </p:txBody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DCCD39CE-A932-41FF-BB87-5A85B7B7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3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Evidence hierarchy</a:t>
            </a:r>
          </a:p>
        </p:txBody>
      </p:sp>
      <p:sp>
        <p:nvSpPr>
          <p:cNvPr id="14" name="header-4">
            <a:extLst xmlns:a="http://schemas.openxmlformats.org/drawingml/2006/main">
              <a:ext uri="{FF2B5EF4-FFF2-40B4-BE49-F238E27FC236}">
                <a16:creationId xmlns:a16="http://schemas.microsoft.com/office/drawing/2014/main" id="{2096FFAD-022B-46BB-B97B-6FA3A7FF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Interpretation boundary</a:t>
            </a:r>
          </a:p>
        </p:txBody>
      </p:sp>
      <p:sp>
        <p:nvSpPr>
          <p:cNvPr id="15" name="initial-state-heading">
            <a:extLst xmlns:a="http://schemas.openxmlformats.org/drawingml/2006/main">
              <a:ext uri="{FF2B5EF4-FFF2-40B4-BE49-F238E27FC236}">
                <a16:creationId xmlns:a16="http://schemas.microsoft.com/office/drawing/2014/main" id="{B16FD880-7356-4FB3-8C01-9F71BA1B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555B"/>
                </a:solidFill>
                <a:latin typeface="Arial"/>
                <a:ea typeface="Arial"/>
                <a:cs typeface="Arial"/>
              </a:rPr>
              <a:t>Initial state decomposition</a:t>
            </a:r>
          </a:p>
        </p:txBody>
      </p:sp>
      <p:sp>
        <p:nvSpPr>
          <p:cNvPr id="16" name="initial-state-bar">
            <a:extLst xmlns:a="http://schemas.openxmlformats.org/drawingml/2006/main">
              <a:ext uri="{FF2B5EF4-FFF2-40B4-BE49-F238E27FC236}">
                <a16:creationId xmlns:a16="http://schemas.microsoft.com/office/drawing/2014/main" id="{95E26F53-CA84-4BF1-B899-16C0651C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6675" cy="138112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78A5"/>
          </a:solidFill>
          <a:ln xmlns:a="http://schemas.openxmlformats.org/drawingml/2006/main" w="0">
            <a:solidFill>
              <a:srgbClr val="2878A5"/>
            </a:solidFill>
            <a:prstDash val="solid"/>
          </a:ln>
        </p:spPr>
      </p:sp>
      <p:sp>
        <p:nvSpPr>
          <p:cNvPr id="17" name="initial-state-list">
            <a:extLst xmlns:a="http://schemas.openxmlformats.org/drawingml/2006/main">
              <a:ext uri="{FF2B5EF4-FFF2-40B4-BE49-F238E27FC236}">
                <a16:creationId xmlns:a16="http://schemas.microsoft.com/office/drawing/2014/main" id="{09353386-C904-495C-A50F-3438FA2D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71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Basoluminal / epithelial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Immune remodeling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Suppressive myeloid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Proliferation / cytolytic</a:t>
            </a:r>
          </a:p>
        </p:txBody>
      </p:sp>
      <p:sp>
        <p:nvSpPr>
          <p:cNvPr id="18" name="summary-heading">
            <a:extLst xmlns:a="http://schemas.openxmlformats.org/drawingml/2006/main">
              <a:ext uri="{FF2B5EF4-FFF2-40B4-BE49-F238E27FC236}">
                <a16:creationId xmlns:a16="http://schemas.microsoft.com/office/drawing/2014/main" id="{E5B5DD5C-EB3E-4326-ABED-912A45E3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Antigen-presentation summary</a:t>
            </a:r>
          </a:p>
        </p:txBody>
      </p:sp>
      <p:sp>
        <p:nvSpPr>
          <p:cNvPr id="19" name="summary-bar">
            <a:extLst xmlns:a="http://schemas.openxmlformats.org/drawingml/2006/main">
              <a:ext uri="{FF2B5EF4-FFF2-40B4-BE49-F238E27FC236}">
                <a16:creationId xmlns:a16="http://schemas.microsoft.com/office/drawing/2014/main" id="{3C294F73-DB35-43E6-BB09-AFB9EBF6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66675" cy="100012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A8C82"/>
          </a:solidFill>
          <a:ln xmlns:a="http://schemas.openxmlformats.org/drawingml/2006/main" w="0">
            <a:solidFill>
              <a:srgbClr val="2A8C82"/>
            </a:solidFill>
            <a:prstDash val="solid"/>
          </a:ln>
        </p:spPr>
      </p:sp>
      <p:sp>
        <p:nvSpPr>
          <p:cNvPr id="20" name="summary-list">
            <a:extLst xmlns:a="http://schemas.openxmlformats.org/drawingml/2006/main">
              <a:ext uri="{FF2B5EF4-FFF2-40B4-BE49-F238E27FC236}">
                <a16:creationId xmlns:a16="http://schemas.microsoft.com/office/drawing/2014/main" id="{AF4EC6D8-BE1D-49A0-9C49-F665173D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HLA-II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CXCL9 / FOLR2 macrophage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Dendritic-cell / HLA</a:t>
            </a:r>
          </a:p>
        </p:txBody>
      </p:sp>
      <p:sp>
        <p:nvSpPr>
          <p:cNvPr id="21" name="standardization-heading">
            <a:extLst xmlns:a="http://schemas.openxmlformats.org/drawingml/2006/main">
              <a:ext uri="{FF2B5EF4-FFF2-40B4-BE49-F238E27FC236}">
                <a16:creationId xmlns:a16="http://schemas.microsoft.com/office/drawing/2014/main" id="{F757E15C-FB1B-4EA5-A80A-ED67F938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716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555B"/>
                </a:solidFill>
                <a:latin typeface="Arial"/>
                <a:ea typeface="Arial"/>
                <a:cs typeface="Arial"/>
              </a:rPr>
              <a:t>Gene-level standardization</a:t>
            </a:r>
          </a:p>
        </p:txBody>
      </p:sp>
      <p:sp>
        <p:nvSpPr>
          <p:cNvPr id="22" name="gene-z-formula">
            <a:extLst xmlns:a="http://schemas.openxmlformats.org/drawingml/2006/main">
              <a:ext uri="{FF2B5EF4-FFF2-40B4-BE49-F238E27FC236}">
                <a16:creationId xmlns:a16="http://schemas.microsoft.com/office/drawing/2014/main" id="{6B9C5ABE-3C2E-4DF1-B0F1-873098F4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73B57"/>
                </a:solidFill>
                <a:latin typeface="Arial"/>
                <a:ea typeface="Arial"/>
                <a:cs typeface="Arial"/>
              </a:rPr>
              <a:t>z(g,i) = [x(g,i) - gene mean]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173B57"/>
                </a:solidFill>
                <a:latin typeface="Arial"/>
                <a:ea typeface="Arial"/>
                <a:cs typeface="Arial"/>
              </a:rPr>
              <a:t>/ gene SD</a:t>
            </a:r>
          </a:p>
        </p:txBody>
      </p:sp>
      <p:sp>
        <p:nvSpPr>
          <p:cNvPr id="23" name="module-score-formula">
            <a:extLst xmlns:a="http://schemas.openxmlformats.org/drawingml/2006/main">
              <a:ext uri="{FF2B5EF4-FFF2-40B4-BE49-F238E27FC236}">
                <a16:creationId xmlns:a16="http://schemas.microsoft.com/office/drawing/2014/main" id="{E708148B-25AF-4438-9053-444AFD3D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1462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Module(k,i) = mean available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gene z-scores</a:t>
            </a:r>
          </a:p>
        </p:txBody>
      </p:sp>
      <p:sp>
        <p:nvSpPr>
          <p:cNvPr id="24" name="summary-score-formula">
            <a:extLst xmlns:a="http://schemas.openxmlformats.org/drawingml/2006/main">
              <a:ext uri="{FF2B5EF4-FFF2-40B4-BE49-F238E27FC236}">
                <a16:creationId xmlns:a16="http://schemas.microsoft.com/office/drawing/2014/main" id="{138B26D8-0668-4EE0-A1BB-03DEAD35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337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Summary(i) = mean z(HLA-II,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CXCL9/FOLR2, DC/HLA)</a:t>
            </a:r>
          </a:p>
        </p:txBody>
      </p:sp>
      <p:sp>
        <p:nvSpPr>
          <p:cNvPr id="25" name="shared-gene-note">
            <a:extLst xmlns:a="http://schemas.openxmlformats.org/drawingml/2006/main">
              <a:ext uri="{FF2B5EF4-FFF2-40B4-BE49-F238E27FC236}">
                <a16:creationId xmlns:a16="http://schemas.microsoft.com/office/drawing/2014/main" id="{630A6494-9CD6-4D76-BD52-CEC197DB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979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7925"/>
                </a:solidFill>
                <a:latin typeface="Arial"/>
                <a:ea typeface="Arial"/>
                <a:cs typeface="Arial"/>
              </a:rPr>
              <a:t>Shared HLA genes disclosed</a:t>
            </a:r>
          </a:p>
        </p:txBody>
      </p:sp>
      <p:sp>
        <p:nvSpPr>
          <p:cNvPr id="26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D67D8098-3364-407A-84D1-9169D52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38675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Coverage checked; weights fixed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after refinement</a:t>
            </a:r>
          </a:p>
        </p:txBody>
      </p:sp>
      <p:sp>
        <p:nvSpPr>
          <p:cNvPr id="27" name="evidence-dot-GSE194040-/-I-SPY2">
            <a:extLst xmlns:a="http://schemas.openxmlformats.org/drawingml/2006/main">
              <a:ext uri="{FF2B5EF4-FFF2-40B4-BE49-F238E27FC236}">
                <a16:creationId xmlns:a16="http://schemas.microsoft.com/office/drawing/2014/main" id="{B968F514-04A9-4CAD-8EEA-6EF6B244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A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" name="evidence-title-GSE194040 / I-SPY2">
            <a:extLst xmlns:a="http://schemas.openxmlformats.org/drawingml/2006/main">
              <a:ext uri="{FF2B5EF4-FFF2-40B4-BE49-F238E27FC236}">
                <a16:creationId xmlns:a16="http://schemas.microsoft.com/office/drawing/2014/main" id="{0D8D786D-EDF1-4F7C-9D36-5E89A952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811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555B"/>
                </a:solidFill>
                <a:latin typeface="Arial"/>
                <a:ea typeface="Arial"/>
                <a:cs typeface="Arial"/>
              </a:rPr>
              <a:t>GSE194040 / I-SPY2</a:t>
            </a:r>
          </a:p>
        </p:txBody>
      </p:sp>
      <p:sp>
        <p:nvSpPr>
          <p:cNvPr id="29" name="evidence-subtitle-GSE194040 / I-SPY2">
            <a:extLst xmlns:a="http://schemas.openxmlformats.org/drawingml/2006/main">
              <a:ext uri="{FF2B5EF4-FFF2-40B4-BE49-F238E27FC236}">
                <a16:creationId xmlns:a16="http://schemas.microsoft.com/office/drawing/2014/main" id="{B93F24E8-5078-471C-9122-C749765C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6212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>
                <a:solidFill>
                  <a:srgbClr val="2878A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878A5"/>
                </a:solidFill>
                <a:latin typeface="Arial"/>
                <a:ea typeface="Arial"/>
                <a:cs typeface="Arial"/>
              </a:rPr>
              <a:t>internal association</a:t>
            </a:r>
          </a:p>
        </p:txBody>
      </p:sp>
      <p:sp>
        <p:nvSpPr>
          <p:cNvPr id="30" name="evidence-dot-GSE25066-RMA">
            <a:extLst xmlns:a="http://schemas.openxmlformats.org/drawingml/2006/main">
              <a:ext uri="{FF2B5EF4-FFF2-40B4-BE49-F238E27FC236}">
                <a16:creationId xmlns:a16="http://schemas.microsoft.com/office/drawing/2014/main" id="{12693ACE-8D09-4B2E-9801-947DD82C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1" name="evidence-title-GSE25066 RMA">
            <a:extLst xmlns:a="http://schemas.openxmlformats.org/drawingml/2006/main">
              <a:ext uri="{FF2B5EF4-FFF2-40B4-BE49-F238E27FC236}">
                <a16:creationId xmlns:a16="http://schemas.microsoft.com/office/drawing/2014/main" id="{702106B3-E8C6-4AD9-BA57-B0CC5B28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050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555B"/>
                </a:solidFill>
                <a:latin typeface="Arial"/>
                <a:ea typeface="Arial"/>
                <a:cs typeface="Arial"/>
              </a:rPr>
              <a:t>GSE25066 RMA</a:t>
            </a:r>
          </a:p>
        </p:txBody>
      </p:sp>
      <p:sp>
        <p:nvSpPr>
          <p:cNvPr id="32" name="evidence-subtitle-GSE25066 RMA">
            <a:extLst xmlns:a="http://schemas.openxmlformats.org/drawingml/2006/main">
              <a:ext uri="{FF2B5EF4-FFF2-40B4-BE49-F238E27FC236}">
                <a16:creationId xmlns:a16="http://schemas.microsoft.com/office/drawing/2014/main" id="{02BF39C3-80A4-4B35-B8A0-8A382106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3B57"/>
                </a:solidFill>
                <a:latin typeface="Arial"/>
                <a:ea typeface="Arial"/>
                <a:cs typeface="Arial"/>
              </a:rPr>
              <a:t>independent chemotherapy test</a:t>
            </a:r>
          </a:p>
        </p:txBody>
      </p:sp>
      <p:sp>
        <p:nvSpPr>
          <p:cNvPr id="33" name="evidence-dot-Five-NAC-cohorts-+-REML">
            <a:extLst xmlns:a="http://schemas.openxmlformats.org/drawingml/2006/main">
              <a:ext uri="{FF2B5EF4-FFF2-40B4-BE49-F238E27FC236}">
                <a16:creationId xmlns:a16="http://schemas.microsoft.com/office/drawing/2014/main" id="{48F40478-3A56-4007-8DA7-115384C8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8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4" name="evidence-title-Five NAC cohorts + REML">
            <a:extLst xmlns:a="http://schemas.openxmlformats.org/drawingml/2006/main">
              <a:ext uri="{FF2B5EF4-FFF2-40B4-BE49-F238E27FC236}">
                <a16:creationId xmlns:a16="http://schemas.microsoft.com/office/drawing/2014/main" id="{131D5F69-4808-4B54-87F0-ADFB29C4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555B"/>
                </a:solidFill>
                <a:latin typeface="Arial"/>
                <a:ea typeface="Arial"/>
                <a:cs typeface="Arial"/>
              </a:rPr>
              <a:t>Five NAC cohorts + REML</a:t>
            </a:r>
          </a:p>
        </p:txBody>
      </p:sp>
      <p:sp>
        <p:nvSpPr>
          <p:cNvPr id="35" name="evidence-subtitle-Five NAC cohorts + REML">
            <a:extLst xmlns:a="http://schemas.openxmlformats.org/drawingml/2006/main">
              <a:ext uri="{FF2B5EF4-FFF2-40B4-BE49-F238E27FC236}">
                <a16:creationId xmlns:a16="http://schemas.microsoft.com/office/drawing/2014/main" id="{28FE13FE-9758-4E26-9DB8-23341CE1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992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>
                <a:solidFill>
                  <a:srgbClr val="2A8C8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A8C82"/>
                </a:solidFill>
                <a:latin typeface="Arial"/>
                <a:ea typeface="Arial"/>
                <a:cs typeface="Arial"/>
              </a:rPr>
              <a:t>external synthesis</a:t>
            </a:r>
          </a:p>
        </p:txBody>
      </p:sp>
      <p:sp>
        <p:nvSpPr>
          <p:cNvPr id="36" name="evidence-dot-METABRIC">
            <a:extLst xmlns:a="http://schemas.openxmlformats.org/drawingml/2006/main">
              <a:ext uri="{FF2B5EF4-FFF2-40B4-BE49-F238E27FC236}">
                <a16:creationId xmlns:a16="http://schemas.microsoft.com/office/drawing/2014/main" id="{EA5302FF-3B48-4C59-B55C-831ED2F9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8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37" name="evidence-title-METABRIC">
            <a:extLst xmlns:a="http://schemas.openxmlformats.org/drawingml/2006/main">
              <a:ext uri="{FF2B5EF4-FFF2-40B4-BE49-F238E27FC236}">
                <a16:creationId xmlns:a16="http://schemas.microsoft.com/office/drawing/2014/main" id="{637CA6C1-C2CF-46B5-AD05-02C9CE65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528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555B"/>
                </a:solidFill>
                <a:latin typeface="Arial"/>
                <a:ea typeface="Arial"/>
                <a:cs typeface="Arial"/>
              </a:rPr>
              <a:t>METABRIC</a:t>
            </a:r>
          </a:p>
        </p:txBody>
      </p:sp>
      <p:sp>
        <p:nvSpPr>
          <p:cNvPr id="38" name="evidence-subtitle-METABRIC">
            <a:extLst xmlns:a="http://schemas.openxmlformats.org/drawingml/2006/main">
              <a:ext uri="{FF2B5EF4-FFF2-40B4-BE49-F238E27FC236}">
                <a16:creationId xmlns:a16="http://schemas.microsoft.com/office/drawing/2014/main" id="{BB5707C0-9486-4092-8115-A3658D55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3382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>
                <a:solidFill>
                  <a:srgbClr val="2A8C8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A8C82"/>
                </a:solidFill>
                <a:latin typeface="Arial"/>
                <a:ea typeface="Arial"/>
                <a:cs typeface="Arial"/>
              </a:rPr>
              <a:t>recurrence biology</a:t>
            </a:r>
          </a:p>
        </p:txBody>
      </p:sp>
      <p:sp>
        <p:nvSpPr>
          <p:cNvPr id="39" name="evidence-dot-GSE266919">
            <a:extLst xmlns:a="http://schemas.openxmlformats.org/drawingml/2006/main">
              <a:ext uri="{FF2B5EF4-FFF2-40B4-BE49-F238E27FC236}">
                <a16:creationId xmlns:a16="http://schemas.microsoft.com/office/drawing/2014/main" id="{25AC4B51-BD7A-42DF-ACD1-664A8DC1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25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40" name="evidence-title-GSE266919">
            <a:extLst xmlns:a="http://schemas.openxmlformats.org/drawingml/2006/main">
              <a:ext uri="{FF2B5EF4-FFF2-40B4-BE49-F238E27FC236}">
                <a16:creationId xmlns:a16="http://schemas.microsoft.com/office/drawing/2014/main" id="{4059F6CF-5CFD-4E42-A2BA-4DCE0D4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767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555B"/>
                </a:solidFill>
                <a:latin typeface="Arial"/>
                <a:ea typeface="Arial"/>
                <a:cs typeface="Arial"/>
              </a:rPr>
              <a:t>GSE266919</a:t>
            </a:r>
          </a:p>
        </p:txBody>
      </p:sp>
      <p:sp>
        <p:nvSpPr>
          <p:cNvPr id="41" name="evidence-subtitle-GSE266919">
            <a:extLst xmlns:a="http://schemas.openxmlformats.org/drawingml/2006/main">
              <a:ext uri="{FF2B5EF4-FFF2-40B4-BE49-F238E27FC236}">
                <a16:creationId xmlns:a16="http://schemas.microsoft.com/office/drawing/2014/main" id="{1B0AFC66-93D0-457C-B148-1F17E389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5772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>
                <a:solidFill>
                  <a:srgbClr val="D9792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D97925"/>
                </a:solidFill>
                <a:latin typeface="Arial"/>
                <a:ea typeface="Arial"/>
                <a:cs typeface="Arial"/>
              </a:rPr>
              <a:t>cell-source localization</a:t>
            </a:r>
          </a:p>
        </p:txBody>
      </p:sp>
      <p:sp>
        <p:nvSpPr>
          <p:cNvPr id="42" name="supported-heading">
            <a:extLst xmlns:a="http://schemas.openxmlformats.org/drawingml/2006/main">
              <a:ext uri="{FF2B5EF4-FFF2-40B4-BE49-F238E27FC236}">
                <a16:creationId xmlns:a16="http://schemas.microsoft.com/office/drawing/2014/main" id="{09A1D517-C35F-41AD-8E4A-EC963EA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A8C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8C82"/>
                </a:solidFill>
                <a:latin typeface="Arial"/>
                <a:ea typeface="Arial"/>
                <a:cs typeface="Arial"/>
              </a:rPr>
              <a:t>Supported interpretation</a:t>
            </a:r>
          </a:p>
        </p:txBody>
      </p:sp>
      <p:sp>
        <p:nvSpPr>
          <p:cNvPr id="43" name="supported-list">
            <a:extLst xmlns:a="http://schemas.openxmlformats.org/drawingml/2006/main">
              <a:ext uri="{FF2B5EF4-FFF2-40B4-BE49-F238E27FC236}">
                <a16:creationId xmlns:a16="http://schemas.microsoft.com/office/drawing/2014/main" id="{7A45DC48-1DB5-4D75-86C8-C54A017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Context-dependent antigen-presentation state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Chemotherapy-context heterogeneity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Immune-compartment localization</a:t>
            </a:r>
          </a:p>
        </p:txBody>
      </p:sp>
      <p:sp>
        <p:nvSpPr>
          <p:cNvPr id="44" name="not-established-heading">
            <a:extLst xmlns:a="http://schemas.openxmlformats.org/drawingml/2006/main">
              <a:ext uri="{FF2B5EF4-FFF2-40B4-BE49-F238E27FC236}">
                <a16:creationId xmlns:a16="http://schemas.microsoft.com/office/drawing/2014/main" id="{B6952C26-0384-45C0-87C5-D3C49B93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79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7925"/>
                </a:solidFill>
                <a:latin typeface="Arial"/>
                <a:ea typeface="Arial"/>
                <a:cs typeface="Arial"/>
              </a:rPr>
              <a:t>Not established</a:t>
            </a:r>
          </a:p>
        </p:txBody>
      </p:sp>
      <p:sp>
        <p:nvSpPr>
          <p:cNvPr id="45" name="not-established-list">
            <a:extLst xmlns:a="http://schemas.openxmlformats.org/drawingml/2006/main">
              <a:ext uri="{FF2B5EF4-FFF2-40B4-BE49-F238E27FC236}">
                <a16:creationId xmlns:a16="http://schemas.microsoft.com/office/drawing/2014/main" id="{3CFCE1CE-1044-4CCA-BC09-1A4CCC1F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Universal pCR prediction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Independent component dimensions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Clinical utility</a:t>
            </a:r>
          </a:p>
        </p:txBody>
      </p:sp>
      <p:sp>
        <p:nvSpPr>
          <p:cNvPr id="46" name="chronology-heading">
            <a:extLst xmlns:a="http://schemas.openxmlformats.org/drawingml/2006/main">
              <a:ext uri="{FF2B5EF4-FFF2-40B4-BE49-F238E27FC236}">
                <a16:creationId xmlns:a16="http://schemas.microsoft.com/office/drawing/2014/main" id="{F7C4C558-FE30-42B3-859B-47E044AD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Analysis chronology</a:t>
            </a:r>
          </a:p>
        </p:txBody>
      </p:sp>
      <p:sp>
        <p:nvSpPr>
          <p:cNvPr id="47" name="chronology">
            <a:extLst xmlns:a="http://schemas.openxmlformats.org/drawingml/2006/main">
              <a:ext uri="{FF2B5EF4-FFF2-40B4-BE49-F238E27FC236}">
                <a16:creationId xmlns:a16="http://schemas.microsoft.com/office/drawing/2014/main" id="{47F47C4D-2ACF-468F-ADD6-496116E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102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4D555B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4D555B"/>
                </a:solidFill>
                <a:latin typeface="Arial"/>
                <a:ea typeface="Arial"/>
                <a:cs typeface="Arial"/>
              </a:rPr>
              <a:t>internal association  |  independent negative context  |  external synthesis  |  biological localization</a:t>
            </a:r>
          </a:p>
        </p:txBody>
      </p:sp>
    </p:spTree>
    <p:extLst>
      <p:ext uri="{BB962C8B-B14F-4D97-AF65-F5344CB8AC3E}">
        <p14:creationId xmlns:p14="http://schemas.microsoft.com/office/powerpoint/2010/main" val="812787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2026-08-03T17:01:11.9470000Z</dcterms:created>
  <dcterms:modified xsi:type="dcterms:W3CDTF">2026-08-03T17:01:11.9470000Z</dcterms:modified>
</coreProperties>
</file>